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Bree Serif" charset="1" panose="02000503040000020004"/>
      <p:regular r:id="rId8"/>
    </p:embeddedFont>
    <p:embeddedFont>
      <p:font typeface="Clear Sans" charset="1" panose="020B0503030202020304"/>
      <p:regular r:id="rId9"/>
    </p:embeddedFont>
    <p:embeddedFont>
      <p:font typeface="Sergio Trendy" charset="1" panose="00000000000000000000"/>
      <p:regular r:id="rId10"/>
    </p:embeddedFont>
    <p:embeddedFont>
      <p:font typeface="Sniglet" charset="1" panose="04070505030100020000"/>
      <p:regular r:id="rId11"/>
    </p:embeddedFont>
    <p:embeddedFont>
      <p:font typeface="Clear Sans Bold" charset="1" panose="020B08030302020203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9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237" y="1653513"/>
            <a:ext cx="3430618" cy="1710910"/>
            <a:chOff x="0" y="0"/>
            <a:chExt cx="4768026" cy="23778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8026" cy="2377899"/>
            </a:xfrm>
            <a:custGeom>
              <a:avLst/>
              <a:gdLst/>
              <a:ahLst/>
              <a:cxnLst/>
              <a:rect r="r" b="b" t="t" l="l"/>
              <a:pathLst>
                <a:path h="2377899" w="4768026">
                  <a:moveTo>
                    <a:pt x="0" y="0"/>
                  </a:moveTo>
                  <a:lnTo>
                    <a:pt x="0" y="2377899"/>
                  </a:lnTo>
                  <a:lnTo>
                    <a:pt x="4768026" y="2377899"/>
                  </a:lnTo>
                  <a:lnTo>
                    <a:pt x="4768026" y="0"/>
                  </a:lnTo>
                  <a:lnTo>
                    <a:pt x="0" y="0"/>
                  </a:lnTo>
                  <a:close/>
                  <a:moveTo>
                    <a:pt x="4707066" y="2316939"/>
                  </a:moveTo>
                  <a:lnTo>
                    <a:pt x="59690" y="2316939"/>
                  </a:lnTo>
                  <a:lnTo>
                    <a:pt x="59690" y="59690"/>
                  </a:lnTo>
                  <a:lnTo>
                    <a:pt x="4707066" y="59690"/>
                  </a:lnTo>
                  <a:lnTo>
                    <a:pt x="4707066" y="231693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33333">
                  <a:srgbClr val="7ED957">
                    <a:alpha val="100000"/>
                  </a:srgbClr>
                </a:gs>
                <a:gs pos="66667">
                  <a:srgbClr val="5F7E52">
                    <a:alpha val="100000"/>
                  </a:srgbClr>
                </a:gs>
                <a:gs pos="100000">
                  <a:srgbClr val="304627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1237" y="3500433"/>
            <a:ext cx="3430618" cy="6730528"/>
            <a:chOff x="0" y="0"/>
            <a:chExt cx="4768026" cy="9354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68026" cy="9354390"/>
            </a:xfrm>
            <a:custGeom>
              <a:avLst/>
              <a:gdLst/>
              <a:ahLst/>
              <a:cxnLst/>
              <a:rect r="r" b="b" t="t" l="l"/>
              <a:pathLst>
                <a:path h="9354390" w="4768026">
                  <a:moveTo>
                    <a:pt x="0" y="0"/>
                  </a:moveTo>
                  <a:lnTo>
                    <a:pt x="0" y="9354390"/>
                  </a:lnTo>
                  <a:lnTo>
                    <a:pt x="4768026" y="9354390"/>
                  </a:lnTo>
                  <a:lnTo>
                    <a:pt x="4768026" y="0"/>
                  </a:lnTo>
                  <a:lnTo>
                    <a:pt x="0" y="0"/>
                  </a:lnTo>
                  <a:close/>
                  <a:moveTo>
                    <a:pt x="4707066" y="9293430"/>
                  </a:moveTo>
                  <a:lnTo>
                    <a:pt x="59690" y="9293430"/>
                  </a:lnTo>
                  <a:lnTo>
                    <a:pt x="59690" y="59690"/>
                  </a:lnTo>
                  <a:lnTo>
                    <a:pt x="4707066" y="59690"/>
                  </a:lnTo>
                  <a:lnTo>
                    <a:pt x="4707066" y="9293430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33333">
                  <a:srgbClr val="7ED957">
                    <a:alpha val="100000"/>
                  </a:srgbClr>
                </a:gs>
                <a:gs pos="66667">
                  <a:srgbClr val="5F7E52">
                    <a:alpha val="100000"/>
                  </a:srgbClr>
                </a:gs>
                <a:gs pos="100000">
                  <a:srgbClr val="304627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932999" y="1653513"/>
            <a:ext cx="3387191" cy="4829593"/>
            <a:chOff x="0" y="0"/>
            <a:chExt cx="4707671" cy="67123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07670" cy="6712384"/>
            </a:xfrm>
            <a:custGeom>
              <a:avLst/>
              <a:gdLst/>
              <a:ahLst/>
              <a:cxnLst/>
              <a:rect r="r" b="b" t="t" l="l"/>
              <a:pathLst>
                <a:path h="6712384" w="4707670">
                  <a:moveTo>
                    <a:pt x="0" y="0"/>
                  </a:moveTo>
                  <a:lnTo>
                    <a:pt x="0" y="6712384"/>
                  </a:lnTo>
                  <a:lnTo>
                    <a:pt x="4707670" y="6712384"/>
                  </a:lnTo>
                  <a:lnTo>
                    <a:pt x="4707670" y="0"/>
                  </a:lnTo>
                  <a:lnTo>
                    <a:pt x="0" y="0"/>
                  </a:lnTo>
                  <a:close/>
                  <a:moveTo>
                    <a:pt x="4646711" y="6651424"/>
                  </a:moveTo>
                  <a:lnTo>
                    <a:pt x="59690" y="6651424"/>
                  </a:lnTo>
                  <a:lnTo>
                    <a:pt x="59690" y="59690"/>
                  </a:lnTo>
                  <a:lnTo>
                    <a:pt x="4646711" y="59690"/>
                  </a:lnTo>
                  <a:lnTo>
                    <a:pt x="4646711" y="6651424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33333">
                  <a:srgbClr val="7ED957">
                    <a:alpha val="100000"/>
                  </a:srgbClr>
                </a:gs>
                <a:gs pos="66667">
                  <a:srgbClr val="5F7E52">
                    <a:alpha val="100000"/>
                  </a:srgbClr>
                </a:gs>
                <a:gs pos="100000">
                  <a:srgbClr val="304627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64882" y="1909430"/>
            <a:ext cx="2995423" cy="4294355"/>
            <a:chOff x="0" y="0"/>
            <a:chExt cx="3993898" cy="57258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978718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JAMÓN IBERICO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5214" y="3278378"/>
              <a:ext cx="2094913" cy="6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02"/>
                </a:lnSpc>
              </a:pPr>
              <a:r>
                <a:rPr lang="en-US" sz="986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lonchas de jamón iberico servido en una galleta de regaña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31304" y="3002007"/>
              <a:ext cx="3115353" cy="626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 1/2...10.00€ </a:t>
              </a:r>
            </a:p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RACIÓN...20.00€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4064" y="-38100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PAN Y MANTEQUILLA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335903" y="-38100"/>
              <a:ext cx="563621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1.50€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2929537" y="0"/>
              <a:ext cx="308779" cy="313800"/>
            </a:xfrm>
            <a:custGeom>
              <a:avLst/>
              <a:gdLst/>
              <a:ahLst/>
              <a:cxnLst/>
              <a:rect r="r" b="b" t="t" l="l"/>
              <a:pathLst>
                <a:path h="313800" w="308779">
                  <a:moveTo>
                    <a:pt x="0" y="0"/>
                  </a:moveTo>
                  <a:lnTo>
                    <a:pt x="308779" y="0"/>
                  </a:lnTo>
                  <a:lnTo>
                    <a:pt x="308779" y="313800"/>
                  </a:lnTo>
                  <a:lnTo>
                    <a:pt x="0" y="31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617679" y="0"/>
              <a:ext cx="311858" cy="306947"/>
            </a:xfrm>
            <a:custGeom>
              <a:avLst/>
              <a:gdLst/>
              <a:ahLst/>
              <a:cxnLst/>
              <a:rect r="r" b="b" t="t" l="l"/>
              <a:pathLst>
                <a:path h="306947" w="311858">
                  <a:moveTo>
                    <a:pt x="0" y="0"/>
                  </a:moveTo>
                  <a:lnTo>
                    <a:pt x="311858" y="0"/>
                  </a:lnTo>
                  <a:lnTo>
                    <a:pt x="311858" y="306947"/>
                  </a:lnTo>
                  <a:lnTo>
                    <a:pt x="0" y="306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2032" y="4073191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FRESCO Y BLANCO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35903" y="4073191"/>
              <a:ext cx="563621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5.50€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2032" y="4413393"/>
              <a:ext cx="3404526" cy="409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02"/>
                </a:lnSpc>
              </a:pPr>
              <a:r>
                <a:rPr lang="en-US" sz="986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Queso fresco al estilo portugués, aliñado con aceite de oliva, pimienta negra y orégano.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0881" y="2160207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PLATO DE QUESO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31304" y="2174234"/>
              <a:ext cx="3115353" cy="626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1/2...9.00€ </a:t>
              </a:r>
            </a:p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RACIÓN...18.00€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4064" y="2481224"/>
              <a:ext cx="3404526" cy="6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02"/>
                </a:lnSpc>
              </a:pPr>
              <a:r>
                <a:rPr lang="en-US" sz="986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Una selección de quesos</a:t>
              </a:r>
            </a:p>
            <a:p>
              <a:pPr algn="l">
                <a:lnSpc>
                  <a:spcPts val="1202"/>
                </a:lnSpc>
              </a:pPr>
            </a:p>
            <a:p>
              <a:pPr algn="l">
                <a:lnSpc>
                  <a:spcPts val="1202"/>
                </a:lnSpc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4064" y="635375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COUVERT 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1594843" y="659770"/>
              <a:ext cx="278903" cy="274511"/>
            </a:xfrm>
            <a:custGeom>
              <a:avLst/>
              <a:gdLst/>
              <a:ahLst/>
              <a:cxnLst/>
              <a:rect r="r" b="b" t="t" l="l"/>
              <a:pathLst>
                <a:path h="274511" w="278903">
                  <a:moveTo>
                    <a:pt x="0" y="0"/>
                  </a:moveTo>
                  <a:lnTo>
                    <a:pt x="278903" y="0"/>
                  </a:lnTo>
                  <a:lnTo>
                    <a:pt x="278903" y="274510"/>
                  </a:lnTo>
                  <a:lnTo>
                    <a:pt x="0" y="274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317045" y="659770"/>
              <a:ext cx="273490" cy="277937"/>
            </a:xfrm>
            <a:custGeom>
              <a:avLst/>
              <a:gdLst/>
              <a:ahLst/>
              <a:cxnLst/>
              <a:rect r="r" b="b" t="t" l="l"/>
              <a:pathLst>
                <a:path h="277937" w="273490">
                  <a:moveTo>
                    <a:pt x="0" y="0"/>
                  </a:moveTo>
                  <a:lnTo>
                    <a:pt x="273490" y="0"/>
                  </a:lnTo>
                  <a:lnTo>
                    <a:pt x="273490" y="277937"/>
                  </a:lnTo>
                  <a:lnTo>
                    <a:pt x="0" y="277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3335903" y="628522"/>
              <a:ext cx="563621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8.00€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4064" y="968725"/>
              <a:ext cx="3404526" cy="1015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02"/>
                </a:lnSpc>
              </a:pPr>
              <a:r>
                <a:rPr lang="en-US" sz="986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Selección de quesos curados, patés caseros y encurtidos, acompañados de zanahoria aliñada en aceite y ajo, pimientos del padrón y aceite de oliva con vinagre balsámico de frutos rojos.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4975509"/>
              <a:ext cx="3993898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CAPRICHO DE QUESO DE CABRA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345945" y="5246593"/>
              <a:ext cx="563621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9.00€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5313268"/>
              <a:ext cx="3404526" cy="412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19"/>
                </a:lnSpc>
              </a:pPr>
              <a:r>
                <a:rPr lang="en-US" sz="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Queso de cabra gratinado al horno con nueces y salsa de arándanos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134988" y="2067763"/>
            <a:ext cx="2553394" cy="15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8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Por persona 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927405" y="6804293"/>
            <a:ext cx="3359333" cy="3414481"/>
            <a:chOff x="0" y="0"/>
            <a:chExt cx="4668951" cy="47455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68951" cy="4745598"/>
            </a:xfrm>
            <a:custGeom>
              <a:avLst/>
              <a:gdLst/>
              <a:ahLst/>
              <a:cxnLst/>
              <a:rect r="r" b="b" t="t" l="l"/>
              <a:pathLst>
                <a:path h="4745598" w="4668951">
                  <a:moveTo>
                    <a:pt x="0" y="0"/>
                  </a:moveTo>
                  <a:lnTo>
                    <a:pt x="0" y="4745598"/>
                  </a:lnTo>
                  <a:lnTo>
                    <a:pt x="4668951" y="4745598"/>
                  </a:lnTo>
                  <a:lnTo>
                    <a:pt x="4668951" y="0"/>
                  </a:lnTo>
                  <a:lnTo>
                    <a:pt x="0" y="0"/>
                  </a:lnTo>
                  <a:close/>
                  <a:moveTo>
                    <a:pt x="4607991" y="4684638"/>
                  </a:moveTo>
                  <a:lnTo>
                    <a:pt x="59690" y="4684638"/>
                  </a:lnTo>
                  <a:lnTo>
                    <a:pt x="59690" y="59690"/>
                  </a:lnTo>
                  <a:lnTo>
                    <a:pt x="4607991" y="59690"/>
                  </a:lnTo>
                  <a:lnTo>
                    <a:pt x="4607991" y="4684638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33333">
                  <a:srgbClr val="7ED957">
                    <a:alpha val="100000"/>
                  </a:srgbClr>
                </a:gs>
                <a:gs pos="66667">
                  <a:srgbClr val="5F7E52">
                    <a:alpha val="100000"/>
                  </a:srgbClr>
                </a:gs>
                <a:gs pos="100000">
                  <a:srgbClr val="304627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4064882" y="9364272"/>
            <a:ext cx="24641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SALMOREJO 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049945" y="7011175"/>
            <a:ext cx="3114251" cy="2580173"/>
            <a:chOff x="0" y="0"/>
            <a:chExt cx="4152335" cy="3440231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32032" y="2149336"/>
              <a:ext cx="3181070" cy="8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ENSALADA DE PEPINO CON SALMÓN HUMADO Y QUESO CREMA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955484" y="2073136"/>
              <a:ext cx="962147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13.00€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2032" y="643403"/>
              <a:ext cx="318107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TOMATE ALIÑADO 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354010" y="643403"/>
              <a:ext cx="56362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9.00€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2032" y="955475"/>
              <a:ext cx="3404526" cy="237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4"/>
                </a:lnSpc>
              </a:pPr>
              <a:r>
                <a:rPr lang="en-US" sz="1200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Tomate con él aliño de la casa 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32032" y="1351202"/>
              <a:ext cx="4120303" cy="537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PARRILLADA DE </a:t>
              </a:r>
            </a:p>
            <a:p>
              <a:pPr algn="l">
                <a:lnSpc>
                  <a:spcPts val="1679"/>
                </a:lnSpc>
              </a:pPr>
              <a:r>
                <a:rPr lang="en-US" sz="1200" spc="96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VERDURAS 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-19050"/>
              <a:ext cx="318107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ENSALADA MIXTA 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065759" y="21493"/>
              <a:ext cx="851872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8.00€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295465"/>
              <a:ext cx="3404526" cy="237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4"/>
                </a:lnSpc>
              </a:pPr>
              <a:r>
                <a:rPr lang="en-US" sz="1200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Lechuga, tomate y cebolla 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303871" y="3182421"/>
              <a:ext cx="56933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6.00€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4064882" y="9605685"/>
            <a:ext cx="2553394" cy="358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el tradicional con taquitos de jamón o con bacalao 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6004135" y="4944647"/>
            <a:ext cx="231584" cy="235350"/>
          </a:xfrm>
          <a:custGeom>
            <a:avLst/>
            <a:gdLst/>
            <a:ahLst/>
            <a:cxnLst/>
            <a:rect r="r" b="b" t="t" l="l"/>
            <a:pathLst>
              <a:path h="235350" w="231584">
                <a:moveTo>
                  <a:pt x="0" y="0"/>
                </a:moveTo>
                <a:lnTo>
                  <a:pt x="231584" y="0"/>
                </a:lnTo>
                <a:lnTo>
                  <a:pt x="231584" y="235350"/>
                </a:lnTo>
                <a:lnTo>
                  <a:pt x="0" y="2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5896306" y="3559967"/>
            <a:ext cx="207747" cy="204475"/>
          </a:xfrm>
          <a:custGeom>
            <a:avLst/>
            <a:gdLst/>
            <a:ahLst/>
            <a:cxnLst/>
            <a:rect r="r" b="b" t="t" l="l"/>
            <a:pathLst>
              <a:path h="204475" w="207747">
                <a:moveTo>
                  <a:pt x="0" y="0"/>
                </a:moveTo>
                <a:lnTo>
                  <a:pt x="207747" y="0"/>
                </a:lnTo>
                <a:lnTo>
                  <a:pt x="207747" y="204475"/>
                </a:lnTo>
                <a:lnTo>
                  <a:pt x="0" y="204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5675295" y="3559967"/>
            <a:ext cx="231584" cy="235350"/>
          </a:xfrm>
          <a:custGeom>
            <a:avLst/>
            <a:gdLst/>
            <a:ahLst/>
            <a:cxnLst/>
            <a:rect r="r" b="b" t="t" l="l"/>
            <a:pathLst>
              <a:path h="235350" w="231584">
                <a:moveTo>
                  <a:pt x="0" y="0"/>
                </a:moveTo>
                <a:lnTo>
                  <a:pt x="231584" y="0"/>
                </a:lnTo>
                <a:lnTo>
                  <a:pt x="231584" y="235350"/>
                </a:lnTo>
                <a:lnTo>
                  <a:pt x="0" y="2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5766286" y="4949786"/>
            <a:ext cx="233894" cy="230210"/>
          </a:xfrm>
          <a:custGeom>
            <a:avLst/>
            <a:gdLst/>
            <a:ahLst/>
            <a:cxnLst/>
            <a:rect r="r" b="b" t="t" l="l"/>
            <a:pathLst>
              <a:path h="230210" w="233894">
                <a:moveTo>
                  <a:pt x="0" y="0"/>
                </a:moveTo>
                <a:lnTo>
                  <a:pt x="233894" y="0"/>
                </a:lnTo>
                <a:lnTo>
                  <a:pt x="233894" y="230211"/>
                </a:lnTo>
                <a:lnTo>
                  <a:pt x="0" y="230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5534324" y="4156400"/>
            <a:ext cx="233894" cy="230210"/>
          </a:xfrm>
          <a:custGeom>
            <a:avLst/>
            <a:gdLst/>
            <a:ahLst/>
            <a:cxnLst/>
            <a:rect r="r" b="b" t="t" l="l"/>
            <a:pathLst>
              <a:path h="230210" w="233894">
                <a:moveTo>
                  <a:pt x="0" y="0"/>
                </a:moveTo>
                <a:lnTo>
                  <a:pt x="233894" y="0"/>
                </a:lnTo>
                <a:lnTo>
                  <a:pt x="233894" y="230210"/>
                </a:lnTo>
                <a:lnTo>
                  <a:pt x="0" y="23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518404" y="4022211"/>
            <a:ext cx="198660" cy="201891"/>
          </a:xfrm>
          <a:custGeom>
            <a:avLst/>
            <a:gdLst/>
            <a:ahLst/>
            <a:cxnLst/>
            <a:rect r="r" b="b" t="t" l="l"/>
            <a:pathLst>
              <a:path h="201891" w="198660">
                <a:moveTo>
                  <a:pt x="0" y="0"/>
                </a:moveTo>
                <a:lnTo>
                  <a:pt x="198660" y="0"/>
                </a:lnTo>
                <a:lnTo>
                  <a:pt x="198660" y="201891"/>
                </a:lnTo>
                <a:lnTo>
                  <a:pt x="0" y="201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5234269" y="9404071"/>
            <a:ext cx="196961" cy="193859"/>
          </a:xfrm>
          <a:custGeom>
            <a:avLst/>
            <a:gdLst/>
            <a:ahLst/>
            <a:cxnLst/>
            <a:rect r="r" b="b" t="t" l="l"/>
            <a:pathLst>
              <a:path h="193859" w="196961">
                <a:moveTo>
                  <a:pt x="0" y="0"/>
                </a:moveTo>
                <a:lnTo>
                  <a:pt x="196960" y="0"/>
                </a:lnTo>
                <a:lnTo>
                  <a:pt x="196960" y="193859"/>
                </a:lnTo>
                <a:lnTo>
                  <a:pt x="0" y="193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4491586" y="350156"/>
            <a:ext cx="2692111" cy="980858"/>
          </a:xfrm>
          <a:custGeom>
            <a:avLst/>
            <a:gdLst/>
            <a:ahLst/>
            <a:cxnLst/>
            <a:rect r="r" b="b" t="t" l="l"/>
            <a:pathLst>
              <a:path h="980858" w="2692111">
                <a:moveTo>
                  <a:pt x="0" y="0"/>
                </a:moveTo>
                <a:lnTo>
                  <a:pt x="2692111" y="0"/>
                </a:lnTo>
                <a:lnTo>
                  <a:pt x="2692111" y="980858"/>
                </a:lnTo>
                <a:lnTo>
                  <a:pt x="0" y="9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278" r="0" b="-3278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2735180" y="-27725"/>
            <a:ext cx="2089641" cy="1671713"/>
          </a:xfrm>
          <a:custGeom>
            <a:avLst/>
            <a:gdLst/>
            <a:ahLst/>
            <a:cxnLst/>
            <a:rect r="r" b="b" t="t" l="l"/>
            <a:pathLst>
              <a:path h="1671713" w="2089641">
                <a:moveTo>
                  <a:pt x="0" y="0"/>
                </a:moveTo>
                <a:lnTo>
                  <a:pt x="2089640" y="0"/>
                </a:lnTo>
                <a:lnTo>
                  <a:pt x="2089640" y="1671713"/>
                </a:lnTo>
                <a:lnTo>
                  <a:pt x="0" y="1671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5788478" y="6132941"/>
            <a:ext cx="215657" cy="219164"/>
          </a:xfrm>
          <a:custGeom>
            <a:avLst/>
            <a:gdLst/>
            <a:ahLst/>
            <a:cxnLst/>
            <a:rect r="r" b="b" t="t" l="l"/>
            <a:pathLst>
              <a:path h="219164" w="215657">
                <a:moveTo>
                  <a:pt x="0" y="0"/>
                </a:moveTo>
                <a:lnTo>
                  <a:pt x="215657" y="0"/>
                </a:lnTo>
                <a:lnTo>
                  <a:pt x="215657" y="219164"/>
                </a:lnTo>
                <a:lnTo>
                  <a:pt x="0" y="2191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105467" y="4898369"/>
            <a:ext cx="2413198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  1/2...7.00€ </a:t>
            </a:r>
          </a:p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RACIÓN..14.00€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6021447" y="6132941"/>
            <a:ext cx="231584" cy="235350"/>
          </a:xfrm>
          <a:custGeom>
            <a:avLst/>
            <a:gdLst/>
            <a:ahLst/>
            <a:cxnLst/>
            <a:rect r="r" b="b" t="t" l="l"/>
            <a:pathLst>
              <a:path h="235350" w="231584">
                <a:moveTo>
                  <a:pt x="0" y="0"/>
                </a:moveTo>
                <a:lnTo>
                  <a:pt x="231584" y="0"/>
                </a:lnTo>
                <a:lnTo>
                  <a:pt x="231584" y="235350"/>
                </a:lnTo>
                <a:lnTo>
                  <a:pt x="0" y="2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6235719" y="6132941"/>
            <a:ext cx="233894" cy="230210"/>
          </a:xfrm>
          <a:custGeom>
            <a:avLst/>
            <a:gdLst/>
            <a:ahLst/>
            <a:cxnLst/>
            <a:rect r="r" b="b" t="t" l="l"/>
            <a:pathLst>
              <a:path h="230210" w="233894">
                <a:moveTo>
                  <a:pt x="0" y="0"/>
                </a:moveTo>
                <a:lnTo>
                  <a:pt x="233894" y="0"/>
                </a:lnTo>
                <a:lnTo>
                  <a:pt x="233894" y="230210"/>
                </a:lnTo>
                <a:lnTo>
                  <a:pt x="0" y="23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529181" y="4936469"/>
            <a:ext cx="1152571" cy="251706"/>
            <a:chOff x="0" y="0"/>
            <a:chExt cx="1536762" cy="33560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324995" y="0"/>
              <a:ext cx="270932" cy="296664"/>
            </a:xfrm>
            <a:custGeom>
              <a:avLst/>
              <a:gdLst/>
              <a:ahLst/>
              <a:cxnLst/>
              <a:rect r="r" b="b" t="t" l="l"/>
              <a:pathLst>
                <a:path h="296664" w="270932">
                  <a:moveTo>
                    <a:pt x="0" y="0"/>
                  </a:moveTo>
                  <a:lnTo>
                    <a:pt x="270932" y="0"/>
                  </a:lnTo>
                  <a:lnTo>
                    <a:pt x="270932" y="296664"/>
                  </a:lnTo>
                  <a:lnTo>
                    <a:pt x="0" y="296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748" t="0" r="-4748" b="0"/>
              </a:stretch>
            </a:blip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608627" y="12632"/>
              <a:ext cx="279487" cy="284032"/>
            </a:xfrm>
            <a:custGeom>
              <a:avLst/>
              <a:gdLst/>
              <a:ahLst/>
              <a:cxnLst/>
              <a:rect r="r" b="b" t="t" l="l"/>
              <a:pathLst>
                <a:path h="284032" w="279487">
                  <a:moveTo>
                    <a:pt x="0" y="0"/>
                  </a:moveTo>
                  <a:lnTo>
                    <a:pt x="279487" y="0"/>
                  </a:lnTo>
                  <a:lnTo>
                    <a:pt x="279487" y="284032"/>
                  </a:lnTo>
                  <a:lnTo>
                    <a:pt x="0" y="28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902487" y="24471"/>
              <a:ext cx="293958" cy="289329"/>
            </a:xfrm>
            <a:custGeom>
              <a:avLst/>
              <a:gdLst/>
              <a:ahLst/>
              <a:cxnLst/>
              <a:rect r="r" b="b" t="t" l="l"/>
              <a:pathLst>
                <a:path h="289329" w="293958">
                  <a:moveTo>
                    <a:pt x="0" y="0"/>
                  </a:moveTo>
                  <a:lnTo>
                    <a:pt x="293958" y="0"/>
                  </a:lnTo>
                  <a:lnTo>
                    <a:pt x="293958" y="289329"/>
                  </a:lnTo>
                  <a:lnTo>
                    <a:pt x="0" y="289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8779" cy="313800"/>
            </a:xfrm>
            <a:custGeom>
              <a:avLst/>
              <a:gdLst/>
              <a:ahLst/>
              <a:cxnLst/>
              <a:rect r="r" b="b" t="t" l="l"/>
              <a:pathLst>
                <a:path h="313800" w="308779">
                  <a:moveTo>
                    <a:pt x="0" y="0"/>
                  </a:moveTo>
                  <a:lnTo>
                    <a:pt x="308779" y="0"/>
                  </a:lnTo>
                  <a:lnTo>
                    <a:pt x="308779" y="313800"/>
                  </a:lnTo>
                  <a:lnTo>
                    <a:pt x="0" y="31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209145" y="2663"/>
              <a:ext cx="327617" cy="332944"/>
            </a:xfrm>
            <a:custGeom>
              <a:avLst/>
              <a:gdLst/>
              <a:ahLst/>
              <a:cxnLst/>
              <a:rect r="r" b="b" t="t" l="l"/>
              <a:pathLst>
                <a:path h="332944" w="327617">
                  <a:moveTo>
                    <a:pt x="0" y="0"/>
                  </a:moveTo>
                  <a:lnTo>
                    <a:pt x="327617" y="0"/>
                  </a:lnTo>
                  <a:lnTo>
                    <a:pt x="327617" y="332944"/>
                  </a:lnTo>
                  <a:lnTo>
                    <a:pt x="0" y="332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5464650" y="9401032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9" y="0"/>
                </a:lnTo>
                <a:lnTo>
                  <a:pt x="201379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4724131" y="9058892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9" y="0"/>
                </a:lnTo>
                <a:lnTo>
                  <a:pt x="201379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535878" y="9398674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8" y="0"/>
                </a:lnTo>
                <a:lnTo>
                  <a:pt x="201378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470794" y="8472800"/>
            <a:ext cx="250795" cy="254873"/>
          </a:xfrm>
          <a:custGeom>
            <a:avLst/>
            <a:gdLst/>
            <a:ahLst/>
            <a:cxnLst/>
            <a:rect r="r" b="b" t="t" l="l"/>
            <a:pathLst>
              <a:path h="254873" w="250795">
                <a:moveTo>
                  <a:pt x="0" y="0"/>
                </a:moveTo>
                <a:lnTo>
                  <a:pt x="250795" y="0"/>
                </a:lnTo>
                <a:lnTo>
                  <a:pt x="250795" y="254874"/>
                </a:lnTo>
                <a:lnTo>
                  <a:pt x="0" y="2548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529181" y="5919480"/>
            <a:ext cx="24641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PATATAS ARRUGADAS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518404" y="6178486"/>
            <a:ext cx="233894" cy="230210"/>
          </a:xfrm>
          <a:custGeom>
            <a:avLst/>
            <a:gdLst/>
            <a:ahLst/>
            <a:cxnLst/>
            <a:rect r="r" b="b" t="t" l="l"/>
            <a:pathLst>
              <a:path h="230210" w="233894">
                <a:moveTo>
                  <a:pt x="0" y="0"/>
                </a:moveTo>
                <a:lnTo>
                  <a:pt x="233894" y="0"/>
                </a:lnTo>
                <a:lnTo>
                  <a:pt x="233894" y="230210"/>
                </a:lnTo>
                <a:lnTo>
                  <a:pt x="0" y="23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-901435">
            <a:off x="2442535" y="382077"/>
            <a:ext cx="768410" cy="513874"/>
          </a:xfrm>
          <a:custGeom>
            <a:avLst/>
            <a:gdLst/>
            <a:ahLst/>
            <a:cxnLst/>
            <a:rect r="r" b="b" t="t" l="l"/>
            <a:pathLst>
              <a:path h="513874" w="768410">
                <a:moveTo>
                  <a:pt x="0" y="0"/>
                </a:moveTo>
                <a:lnTo>
                  <a:pt x="768411" y="0"/>
                </a:lnTo>
                <a:lnTo>
                  <a:pt x="768411" y="513874"/>
                </a:lnTo>
                <a:lnTo>
                  <a:pt x="0" y="5138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756000" y="6132941"/>
            <a:ext cx="273988" cy="267138"/>
          </a:xfrm>
          <a:custGeom>
            <a:avLst/>
            <a:gdLst/>
            <a:ahLst/>
            <a:cxnLst/>
            <a:rect r="r" b="b" t="t" l="l"/>
            <a:pathLst>
              <a:path h="267138" w="273988">
                <a:moveTo>
                  <a:pt x="0" y="0"/>
                </a:moveTo>
                <a:lnTo>
                  <a:pt x="273988" y="0"/>
                </a:lnTo>
                <a:lnTo>
                  <a:pt x="273988" y="267138"/>
                </a:lnTo>
                <a:lnTo>
                  <a:pt x="0" y="2671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470794" y="6936766"/>
            <a:ext cx="2637195" cy="15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Pimentos del padrón con flor de sal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18404" y="6400079"/>
            <a:ext cx="2637195" cy="15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Patatas con mojó picón 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05205" y="3809373"/>
            <a:ext cx="24641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GAMBAS DE COSTA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18404" y="4640697"/>
            <a:ext cx="24641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ENSALADILLA DE MARISCO 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81490" y="3791967"/>
            <a:ext cx="2413198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 1/2...11.00€ </a:t>
            </a:r>
          </a:p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RACIÓN...22.00€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18404" y="4224102"/>
            <a:ext cx="1485502" cy="3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Gambas cosida o a la plancha 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70794" y="6671119"/>
            <a:ext cx="24641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PIMENTOS DEL PADRÓN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058099" y="6671119"/>
            <a:ext cx="436589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7.00€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3058099" y="5936550"/>
            <a:ext cx="436589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7.00€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70794" y="7339618"/>
            <a:ext cx="2752708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PIMIENTOS A LA PARRILLA AL ESTILO PORTUGUÉS 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3058099" y="7560337"/>
            <a:ext cx="436589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7.00€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70794" y="7857256"/>
            <a:ext cx="2637195" cy="15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Pimientos en la brasa en aceite y ajo 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05205" y="9123789"/>
            <a:ext cx="2464103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GARBANZOS CON BACALAO ALINADOS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058099" y="8256341"/>
            <a:ext cx="436589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9.00€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18404" y="9671341"/>
            <a:ext cx="2637195" cy="17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Bacalao con garbanzos y su aliño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88047" y="1511989"/>
            <a:ext cx="1925003" cy="29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INFO.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234118" y="3402523"/>
            <a:ext cx="2671737" cy="29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TAPITAS Y PICOTEO 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3927405" y="1511989"/>
            <a:ext cx="2876595" cy="29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AL CENTRO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510966" y="8006075"/>
            <a:ext cx="538841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13.00€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932999" y="6648586"/>
            <a:ext cx="2957372" cy="29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ENSALADA Y VERDURA 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19122" y="1823913"/>
            <a:ext cx="3169566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9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⚠️ Información sobre alérgenos</a:t>
            </a:r>
          </a:p>
          <a:p>
            <a:pPr algn="l">
              <a:lnSpc>
                <a:spcPts val="1219"/>
              </a:lnSpc>
            </a:pPr>
            <a:r>
              <a:rPr lang="en-US" sz="9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La mayoría de nuestros platos pueden contener trazas de gluten, ya que se elaboran en una cocina donde se manipulan ingredientes con gluten.</a:t>
            </a:r>
          </a:p>
          <a:p>
            <a:pPr algn="l">
              <a:lnSpc>
                <a:spcPts val="1219"/>
              </a:lnSpc>
            </a:pPr>
            <a:r>
              <a:rPr lang="en-US" sz="9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Sin embargo, al tratarse de preparaciones hechas al momento, es posible adaptar muchos de ellos si se nos informa con antelación.</a:t>
            </a:r>
          </a:p>
          <a:p>
            <a:pPr algn="l">
              <a:lnSpc>
                <a:spcPts val="1219"/>
              </a:lnSpc>
            </a:pPr>
            <a:r>
              <a:rPr lang="en-US" sz="9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Por favor, comunique cualquier alergia o intolerancia al personal antes de hacer su pedido.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29181" y="5221440"/>
            <a:ext cx="1758908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99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Selección de mariscos frescos ligados con una mayonesa suave y cremosa, fresca y llena de sabor a mar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470794" y="8256341"/>
            <a:ext cx="24641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"PIPIS" A LA PORTUGUESA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470794" y="8704693"/>
            <a:ext cx="2637195" cy="46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99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Mollejas de pollo en salsa de tomate picante con pepinillos (possible sin picante)</a:t>
            </a:r>
          </a:p>
          <a:p>
            <a:pPr algn="l">
              <a:lnSpc>
                <a:spcPts val="1219"/>
              </a:lnSpc>
            </a:pPr>
          </a:p>
        </p:txBody>
      </p:sp>
      <p:sp>
        <p:nvSpPr>
          <p:cNvPr name="TextBox 97" id="97"/>
          <p:cNvSpPr txBox="true"/>
          <p:nvPr/>
        </p:nvSpPr>
        <p:spPr>
          <a:xfrm rot="0">
            <a:off x="3058099" y="9123789"/>
            <a:ext cx="436589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8.00€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13232" y="181658"/>
            <a:ext cx="2513508" cy="125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3"/>
              </a:lnSpc>
            </a:pPr>
            <a:r>
              <a:rPr lang="en-US" sz="847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Horario de apertura hasta el 15 de Mayo)</a:t>
            </a:r>
          </a:p>
          <a:p>
            <a:pPr algn="l" marL="0" indent="0" lvl="0">
              <a:lnSpc>
                <a:spcPts val="1033"/>
              </a:lnSpc>
            </a:pPr>
            <a:r>
              <a:rPr lang="en-US" sz="847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(Possible cambios)</a:t>
            </a:r>
          </a:p>
          <a:p>
            <a:pPr algn="l" marL="0" indent="0" lvl="0">
              <a:lnSpc>
                <a:spcPts val="1033"/>
              </a:lnSpc>
            </a:pPr>
          </a:p>
          <a:p>
            <a:pPr algn="l" marL="0" indent="0" lvl="0">
              <a:lnSpc>
                <a:spcPts val="1033"/>
              </a:lnSpc>
            </a:pPr>
            <a:r>
              <a:rPr lang="en-US" sz="847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Lunes y martes - cerrado; </a:t>
            </a:r>
          </a:p>
          <a:p>
            <a:pPr algn="l" marL="0" indent="0" lvl="0">
              <a:lnSpc>
                <a:spcPts val="1033"/>
              </a:lnSpc>
            </a:pPr>
            <a:r>
              <a:rPr lang="en-US" sz="847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miércoles, jueves y domingo - 10:00 a 18:00 </a:t>
            </a:r>
          </a:p>
          <a:p>
            <a:pPr algn="l" marL="0" indent="0" lvl="0">
              <a:lnSpc>
                <a:spcPts val="1033"/>
              </a:lnSpc>
            </a:pPr>
            <a:r>
              <a:rPr lang="en-US" sz="847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Horario de cocina: de 10:00 a 16:30 horas.</a:t>
            </a:r>
          </a:p>
          <a:p>
            <a:pPr algn="l" marL="0" indent="0" lvl="0">
              <a:lnSpc>
                <a:spcPts val="1033"/>
              </a:lnSpc>
            </a:pPr>
          </a:p>
          <a:p>
            <a:pPr algn="l" marL="0" indent="0" lvl="0">
              <a:lnSpc>
                <a:spcPts val="1033"/>
              </a:lnSpc>
            </a:pPr>
            <a:r>
              <a:rPr lang="en-US" sz="847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Viernes y sábado de 10:00 a 22:30 h </a:t>
            </a:r>
          </a:p>
          <a:p>
            <a:pPr algn="l" marL="0" indent="0" lvl="0">
              <a:lnSpc>
                <a:spcPts val="1033"/>
              </a:lnSpc>
            </a:pPr>
            <a:r>
              <a:rPr lang="en-US" sz="847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Horario de cocina de:</a:t>
            </a:r>
          </a:p>
          <a:p>
            <a:pPr algn="l" marL="0" indent="0" lvl="0">
              <a:lnSpc>
                <a:spcPts val="1033"/>
              </a:lnSpc>
            </a:pPr>
            <a:r>
              <a:rPr lang="en-US" sz="847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10:00 a 16:30 horas y de 19:00 a 22:00 horas.</a:t>
            </a:r>
          </a:p>
        </p:txBody>
      </p:sp>
      <p:sp>
        <p:nvSpPr>
          <p:cNvPr name="Freeform 99" id="99"/>
          <p:cNvSpPr/>
          <p:nvPr/>
        </p:nvSpPr>
        <p:spPr>
          <a:xfrm flipH="false" flipV="false" rot="0">
            <a:off x="756000" y="8447080"/>
            <a:ext cx="273988" cy="267138"/>
          </a:xfrm>
          <a:custGeom>
            <a:avLst/>
            <a:gdLst/>
            <a:ahLst/>
            <a:cxnLst/>
            <a:rect r="r" b="b" t="t" l="l"/>
            <a:pathLst>
              <a:path h="267138" w="273988">
                <a:moveTo>
                  <a:pt x="0" y="0"/>
                </a:moveTo>
                <a:lnTo>
                  <a:pt x="273988" y="0"/>
                </a:lnTo>
                <a:lnTo>
                  <a:pt x="273988" y="267138"/>
                </a:lnTo>
                <a:lnTo>
                  <a:pt x="0" y="2671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4925510" y="9048009"/>
            <a:ext cx="231584" cy="235350"/>
          </a:xfrm>
          <a:custGeom>
            <a:avLst/>
            <a:gdLst/>
            <a:ahLst/>
            <a:cxnLst/>
            <a:rect r="r" b="b" t="t" l="l"/>
            <a:pathLst>
              <a:path h="235350" w="231584">
                <a:moveTo>
                  <a:pt x="0" y="0"/>
                </a:moveTo>
                <a:lnTo>
                  <a:pt x="231584" y="0"/>
                </a:lnTo>
                <a:lnTo>
                  <a:pt x="231584" y="235350"/>
                </a:lnTo>
                <a:lnTo>
                  <a:pt x="0" y="2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1" id="101"/>
          <p:cNvSpPr txBox="true"/>
          <p:nvPr/>
        </p:nvSpPr>
        <p:spPr>
          <a:xfrm rot="0">
            <a:off x="5234269" y="9087479"/>
            <a:ext cx="2553394" cy="15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(possible sin lactosa )</a:t>
            </a:r>
          </a:p>
        </p:txBody>
      </p:sp>
      <p:sp>
        <p:nvSpPr>
          <p:cNvPr name="Freeform 102" id="102"/>
          <p:cNvSpPr/>
          <p:nvPr/>
        </p:nvSpPr>
        <p:spPr>
          <a:xfrm flipH="false" flipV="false" rot="0">
            <a:off x="5473916" y="2407082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9" y="0"/>
                </a:lnTo>
                <a:lnTo>
                  <a:pt x="201379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70" y="292269"/>
            <a:ext cx="3250698" cy="3174240"/>
            <a:chOff x="0" y="0"/>
            <a:chExt cx="4334264" cy="423232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63298"/>
              <a:ext cx="4334264" cy="4069022"/>
              <a:chOff x="0" y="0"/>
              <a:chExt cx="4517966" cy="424148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7966" cy="4241482"/>
              </a:xfrm>
              <a:custGeom>
                <a:avLst/>
                <a:gdLst/>
                <a:ahLst/>
                <a:cxnLst/>
                <a:rect r="r" b="b" t="t" l="l"/>
                <a:pathLst>
                  <a:path h="4241482" w="4517966">
                    <a:moveTo>
                      <a:pt x="0" y="0"/>
                    </a:moveTo>
                    <a:lnTo>
                      <a:pt x="0" y="4241482"/>
                    </a:lnTo>
                    <a:lnTo>
                      <a:pt x="4517966" y="4241482"/>
                    </a:lnTo>
                    <a:lnTo>
                      <a:pt x="4517966" y="0"/>
                    </a:lnTo>
                    <a:lnTo>
                      <a:pt x="0" y="0"/>
                    </a:lnTo>
                    <a:close/>
                    <a:moveTo>
                      <a:pt x="4457006" y="4180522"/>
                    </a:moveTo>
                    <a:lnTo>
                      <a:pt x="59690" y="4180522"/>
                    </a:lnTo>
                    <a:lnTo>
                      <a:pt x="59690" y="59690"/>
                    </a:lnTo>
                    <a:lnTo>
                      <a:pt x="4457006" y="59690"/>
                    </a:lnTo>
                    <a:lnTo>
                      <a:pt x="4457006" y="418052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97B2">
                      <a:alpha val="100000"/>
                    </a:srgbClr>
                  </a:gs>
                  <a:gs pos="33333">
                    <a:srgbClr val="7ED957">
                      <a:alpha val="100000"/>
                    </a:srgbClr>
                  </a:gs>
                  <a:gs pos="66667">
                    <a:srgbClr val="5F7E52">
                      <a:alpha val="100000"/>
                    </a:srgbClr>
                  </a:gs>
                  <a:gs pos="100000">
                    <a:srgbClr val="304627">
                      <a:alpha val="100000"/>
                    </a:srgbClr>
                  </a:gs>
                </a:gsLst>
                <a:lin ang="5400000"/>
              </a:gra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256219" y="-19050"/>
              <a:ext cx="2566670" cy="388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3"/>
                </a:lnSpc>
              </a:pPr>
              <a:r>
                <a:rPr lang="en-US" sz="1852">
                  <a:solidFill>
                    <a:srgbClr val="000000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FREIDURÍA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932999" y="407064"/>
            <a:ext cx="3250698" cy="5847273"/>
            <a:chOff x="0" y="0"/>
            <a:chExt cx="4517966" cy="81268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17966" cy="8126802"/>
            </a:xfrm>
            <a:custGeom>
              <a:avLst/>
              <a:gdLst/>
              <a:ahLst/>
              <a:cxnLst/>
              <a:rect r="r" b="b" t="t" l="l"/>
              <a:pathLst>
                <a:path h="8126802" w="4517966">
                  <a:moveTo>
                    <a:pt x="0" y="0"/>
                  </a:moveTo>
                  <a:lnTo>
                    <a:pt x="0" y="8126802"/>
                  </a:lnTo>
                  <a:lnTo>
                    <a:pt x="4517966" y="8126802"/>
                  </a:lnTo>
                  <a:lnTo>
                    <a:pt x="4517966" y="0"/>
                  </a:lnTo>
                  <a:lnTo>
                    <a:pt x="0" y="0"/>
                  </a:lnTo>
                  <a:close/>
                  <a:moveTo>
                    <a:pt x="4457006" y="8065842"/>
                  </a:moveTo>
                  <a:lnTo>
                    <a:pt x="59690" y="8065842"/>
                  </a:lnTo>
                  <a:lnTo>
                    <a:pt x="59690" y="59690"/>
                  </a:lnTo>
                  <a:lnTo>
                    <a:pt x="4457006" y="59690"/>
                  </a:lnTo>
                  <a:lnTo>
                    <a:pt x="4457006" y="8065842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33333">
                  <a:srgbClr val="7ED957">
                    <a:alpha val="100000"/>
                  </a:srgbClr>
                </a:gs>
                <a:gs pos="66667">
                  <a:srgbClr val="5F7E52">
                    <a:alpha val="100000"/>
                  </a:srgbClr>
                </a:gs>
                <a:gs pos="100000">
                  <a:srgbClr val="304627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6270" y="3667286"/>
            <a:ext cx="3250698" cy="6820952"/>
            <a:chOff x="0" y="0"/>
            <a:chExt cx="4517966" cy="94800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17966" cy="9480065"/>
            </a:xfrm>
            <a:custGeom>
              <a:avLst/>
              <a:gdLst/>
              <a:ahLst/>
              <a:cxnLst/>
              <a:rect r="r" b="b" t="t" l="l"/>
              <a:pathLst>
                <a:path h="9480065" w="4517966">
                  <a:moveTo>
                    <a:pt x="0" y="0"/>
                  </a:moveTo>
                  <a:lnTo>
                    <a:pt x="0" y="9480065"/>
                  </a:lnTo>
                  <a:lnTo>
                    <a:pt x="4517966" y="9480065"/>
                  </a:lnTo>
                  <a:lnTo>
                    <a:pt x="4517966" y="0"/>
                  </a:lnTo>
                  <a:lnTo>
                    <a:pt x="0" y="0"/>
                  </a:lnTo>
                  <a:close/>
                  <a:moveTo>
                    <a:pt x="4457006" y="9419105"/>
                  </a:moveTo>
                  <a:lnTo>
                    <a:pt x="59690" y="9419105"/>
                  </a:lnTo>
                  <a:lnTo>
                    <a:pt x="59690" y="59690"/>
                  </a:lnTo>
                  <a:lnTo>
                    <a:pt x="4457006" y="59690"/>
                  </a:lnTo>
                  <a:lnTo>
                    <a:pt x="4457006" y="9419105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33333">
                  <a:srgbClr val="7ED957">
                    <a:alpha val="100000"/>
                  </a:srgbClr>
                </a:gs>
                <a:gs pos="66667">
                  <a:srgbClr val="5F7E52">
                    <a:alpha val="100000"/>
                  </a:srgbClr>
                </a:gs>
                <a:gs pos="100000">
                  <a:srgbClr val="304627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32999" y="6447365"/>
            <a:ext cx="3250698" cy="1493583"/>
            <a:chOff x="0" y="0"/>
            <a:chExt cx="4517966" cy="20758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17966" cy="2075849"/>
            </a:xfrm>
            <a:custGeom>
              <a:avLst/>
              <a:gdLst/>
              <a:ahLst/>
              <a:cxnLst/>
              <a:rect r="r" b="b" t="t" l="l"/>
              <a:pathLst>
                <a:path h="2075849" w="4517966">
                  <a:moveTo>
                    <a:pt x="0" y="0"/>
                  </a:moveTo>
                  <a:lnTo>
                    <a:pt x="0" y="2075849"/>
                  </a:lnTo>
                  <a:lnTo>
                    <a:pt x="4517966" y="2075849"/>
                  </a:lnTo>
                  <a:lnTo>
                    <a:pt x="4517966" y="0"/>
                  </a:lnTo>
                  <a:lnTo>
                    <a:pt x="0" y="0"/>
                  </a:lnTo>
                  <a:close/>
                  <a:moveTo>
                    <a:pt x="4457006" y="2014889"/>
                  </a:moveTo>
                  <a:lnTo>
                    <a:pt x="59690" y="2014889"/>
                  </a:lnTo>
                  <a:lnTo>
                    <a:pt x="59690" y="59690"/>
                  </a:lnTo>
                  <a:lnTo>
                    <a:pt x="4457006" y="59690"/>
                  </a:lnTo>
                  <a:lnTo>
                    <a:pt x="4457006" y="201488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33333">
                  <a:srgbClr val="7ED957">
                    <a:alpha val="100000"/>
                  </a:srgbClr>
                </a:gs>
                <a:gs pos="66667">
                  <a:srgbClr val="5F7E52">
                    <a:alpha val="100000"/>
                  </a:srgbClr>
                </a:gs>
                <a:gs pos="100000">
                  <a:srgbClr val="304627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125163" y="6305842"/>
            <a:ext cx="2385803" cy="29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PARA LOS PEQUES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25163" y="6687405"/>
            <a:ext cx="2198717" cy="113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NUGGETS </a:t>
            </a:r>
          </a:p>
          <a:p>
            <a:pPr algn="l">
              <a:lnSpc>
                <a:spcPts val="2261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VARITAS DE PESCADO </a:t>
            </a:r>
          </a:p>
          <a:p>
            <a:pPr algn="l">
              <a:lnSpc>
                <a:spcPts val="2261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HUEVOS CON PATATAS </a:t>
            </a:r>
          </a:p>
          <a:p>
            <a:pPr algn="l">
              <a:lnSpc>
                <a:spcPts val="2261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PECHUGA CON PATATAS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07555" y="6711256"/>
            <a:ext cx="980957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8.00€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938112" y="9525261"/>
            <a:ext cx="3250698" cy="962977"/>
            <a:chOff x="0" y="0"/>
            <a:chExt cx="4517966" cy="13383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17966" cy="1338388"/>
            </a:xfrm>
            <a:custGeom>
              <a:avLst/>
              <a:gdLst/>
              <a:ahLst/>
              <a:cxnLst/>
              <a:rect r="r" b="b" t="t" l="l"/>
              <a:pathLst>
                <a:path h="1338388" w="4517966">
                  <a:moveTo>
                    <a:pt x="0" y="0"/>
                  </a:moveTo>
                  <a:lnTo>
                    <a:pt x="0" y="1338388"/>
                  </a:lnTo>
                  <a:lnTo>
                    <a:pt x="4517966" y="1338388"/>
                  </a:lnTo>
                  <a:lnTo>
                    <a:pt x="4517966" y="0"/>
                  </a:lnTo>
                  <a:lnTo>
                    <a:pt x="0" y="0"/>
                  </a:lnTo>
                  <a:close/>
                  <a:moveTo>
                    <a:pt x="4457006" y="1277428"/>
                  </a:moveTo>
                  <a:lnTo>
                    <a:pt x="59690" y="1277428"/>
                  </a:lnTo>
                  <a:lnTo>
                    <a:pt x="59690" y="59690"/>
                  </a:lnTo>
                  <a:lnTo>
                    <a:pt x="4457006" y="59690"/>
                  </a:lnTo>
                  <a:lnTo>
                    <a:pt x="4457006" y="1277428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33333">
                  <a:srgbClr val="7ED957">
                    <a:alpha val="100000"/>
                  </a:srgbClr>
                </a:gs>
                <a:gs pos="66667">
                  <a:srgbClr val="5F7E52">
                    <a:alpha val="100000"/>
                  </a:srgbClr>
                </a:gs>
                <a:gs pos="100000">
                  <a:srgbClr val="304627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938112" y="8148942"/>
            <a:ext cx="3250698" cy="1157245"/>
            <a:chOff x="0" y="0"/>
            <a:chExt cx="4517966" cy="1608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17966" cy="1608390"/>
            </a:xfrm>
            <a:custGeom>
              <a:avLst/>
              <a:gdLst/>
              <a:ahLst/>
              <a:cxnLst/>
              <a:rect r="r" b="b" t="t" l="l"/>
              <a:pathLst>
                <a:path h="1608390" w="4517966">
                  <a:moveTo>
                    <a:pt x="0" y="0"/>
                  </a:moveTo>
                  <a:lnTo>
                    <a:pt x="0" y="1608390"/>
                  </a:lnTo>
                  <a:lnTo>
                    <a:pt x="4517966" y="1608390"/>
                  </a:lnTo>
                  <a:lnTo>
                    <a:pt x="4517966" y="0"/>
                  </a:lnTo>
                  <a:lnTo>
                    <a:pt x="0" y="0"/>
                  </a:lnTo>
                  <a:close/>
                  <a:moveTo>
                    <a:pt x="4457006" y="1547430"/>
                  </a:moveTo>
                  <a:lnTo>
                    <a:pt x="59690" y="1547430"/>
                  </a:lnTo>
                  <a:lnTo>
                    <a:pt x="59690" y="59690"/>
                  </a:lnTo>
                  <a:lnTo>
                    <a:pt x="4457006" y="59690"/>
                  </a:lnTo>
                  <a:lnTo>
                    <a:pt x="4457006" y="1547430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33333">
                  <a:srgbClr val="7ED957">
                    <a:alpha val="100000"/>
                  </a:srgbClr>
                </a:gs>
                <a:gs pos="66667">
                  <a:srgbClr val="5F7E52">
                    <a:alpha val="100000"/>
                  </a:srgbClr>
                </a:gs>
                <a:gs pos="100000">
                  <a:srgbClr val="304627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078297" y="8017149"/>
            <a:ext cx="2385803" cy="29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GUARNICIONES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78297" y="8370137"/>
            <a:ext cx="287507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999" spc="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PATATAS FRITAS </a:t>
            </a:r>
          </a:p>
          <a:p>
            <a:pPr algn="l">
              <a:lnSpc>
                <a:spcPts val="1649"/>
              </a:lnSpc>
            </a:pPr>
            <a:r>
              <a:rPr lang="en-US" sz="999" spc="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PATATAS ARRUGADAS</a:t>
            </a:r>
          </a:p>
          <a:p>
            <a:pPr algn="l">
              <a:lnSpc>
                <a:spcPts val="1649"/>
              </a:lnSpc>
            </a:pPr>
            <a:r>
              <a:rPr lang="en-US" sz="999" spc="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PATATA COCIDAS </a:t>
            </a:r>
          </a:p>
          <a:p>
            <a:pPr algn="l">
              <a:lnSpc>
                <a:spcPts val="1649"/>
              </a:lnSpc>
            </a:pPr>
            <a:r>
              <a:rPr lang="en-US" sz="999" spc="7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ARROZ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06626" y="8379662"/>
            <a:ext cx="980957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6.00€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47461" y="305290"/>
            <a:ext cx="3188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PESCADO A LA BRASA DE LEÑA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25163" y="584055"/>
            <a:ext cx="23858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SARDINAS EN EL ESPETO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25062" y="889025"/>
            <a:ext cx="1276697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10.00€ (6 UN.)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41127" y="830001"/>
            <a:ext cx="1599898" cy="46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8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acompañado de patatas cocidas al horno y verdura y hecha al horno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58756" y="1166329"/>
            <a:ext cx="1276697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19.00€ (12 UN.)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78297" y="5035343"/>
            <a:ext cx="3070270" cy="112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"/>
              </a:lnSpc>
            </a:pPr>
            <a:r>
              <a:rPr lang="en-US" sz="829" spc="66">
                <a:solidFill>
                  <a:srgbClr val="003D20"/>
                </a:solidFill>
                <a:latin typeface="Bree Serif"/>
                <a:ea typeface="Bree Serif"/>
                <a:cs typeface="Bree Serif"/>
                <a:sym typeface="Bree Serif"/>
              </a:rPr>
              <a:t>⏳ NOTA IMPORTANTE:</a:t>
            </a:r>
          </a:p>
          <a:p>
            <a:pPr algn="l">
              <a:lnSpc>
                <a:spcPts val="1161"/>
              </a:lnSpc>
            </a:pPr>
            <a:r>
              <a:rPr lang="en-US" sz="829" spc="66">
                <a:solidFill>
                  <a:srgbClr val="003D20"/>
                </a:solidFill>
                <a:latin typeface="Bree Serif"/>
                <a:ea typeface="Bree Serif"/>
                <a:cs typeface="Bree Serif"/>
                <a:sym typeface="Bree Serif"/>
              </a:rPr>
              <a:t>NUESTROS PLATOS SON ELABORADOS AL MOMENTO CON PRODUCTOS FRESCOS.</a:t>
            </a:r>
          </a:p>
          <a:p>
            <a:pPr algn="l">
              <a:lnSpc>
                <a:spcPts val="1161"/>
              </a:lnSpc>
            </a:pPr>
            <a:r>
              <a:rPr lang="en-US" sz="829" spc="66">
                <a:solidFill>
                  <a:srgbClr val="003D20"/>
                </a:solidFill>
                <a:latin typeface="Bree Serif"/>
                <a:ea typeface="Bree Serif"/>
                <a:cs typeface="Bree Serif"/>
                <a:sym typeface="Bree Serif"/>
              </a:rPr>
              <a:t>POR FAVOR, TENGA EN CUENTA QUE EL TIEMPO DE PREPARACIÓN PUEDE VARIAR ENTRE 15 Y 30 MINUTOS, DEPENDIENDO DEL PLATO Y DE LA AFLUENCIA DE CLIENTES.</a:t>
            </a:r>
          </a:p>
          <a:p>
            <a:pPr algn="l">
              <a:lnSpc>
                <a:spcPts val="1161"/>
              </a:lnSpc>
            </a:pPr>
            <a:r>
              <a:rPr lang="en-US" sz="829" spc="66">
                <a:solidFill>
                  <a:srgbClr val="003D20"/>
                </a:solidFill>
                <a:latin typeface="Bree Serif"/>
                <a:ea typeface="Bree Serif"/>
                <a:cs typeface="Bree Serif"/>
                <a:sym typeface="Bree Serif"/>
              </a:rPr>
              <a:t>¡AGRADECEMOS SU COMPRENSIÓN!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2454" y="3523660"/>
            <a:ext cx="2982029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CARNES A LA BRASA DE LEÑA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3523" y="4210023"/>
            <a:ext cx="2385803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POLLO DE LA "GUIA" ENTERO(TIPO PICANTÓN)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4587" y="4741806"/>
            <a:ext cx="2876595" cy="30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8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Pollo estilo portugués tierno a la brasa acompañado de patatas fritas y ensalada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6562" y="4238598"/>
            <a:ext cx="2336515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19.00€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6678" y="5137199"/>
            <a:ext cx="23858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1/2 POLLO DE LA "GUIA"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7968" y="5137199"/>
            <a:ext cx="2336515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10.00€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1791" y="5907855"/>
            <a:ext cx="23858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COSTILLAS IBÉRICAS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4587" y="6177843"/>
            <a:ext cx="2390916" cy="30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8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costillas a la brasa acompañado de patatas fritas y ensalada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4667" y="5907855"/>
            <a:ext cx="2336515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19.50€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63321" y="9348666"/>
            <a:ext cx="23858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PICAÑA BRASILEÑA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4000" y="9628179"/>
            <a:ext cx="2390916" cy="264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8"/>
              </a:lnSpc>
            </a:pPr>
            <a:r>
              <a:rPr lang="en-US" sz="9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Picaña brasileña acompañado de Arroz,patatas fritas, frijoles negros y ensalada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7879" y="6692584"/>
            <a:ext cx="2336515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21.50€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6557" y="8437973"/>
            <a:ext cx="2385803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ENTRECÔT DE TERNERA URUGUAYA 320GR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2030" y="8946086"/>
            <a:ext cx="2390916" cy="30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8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Acompañado con patatas confitadas y verduras al horno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3603" y="8437973"/>
            <a:ext cx="2336515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29.50€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3523" y="7530305"/>
            <a:ext cx="2876595" cy="46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spc="103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CHULETÓN DE TERNERA </a:t>
            </a:r>
          </a:p>
          <a:p>
            <a:pPr algn="l">
              <a:lnSpc>
                <a:spcPts val="1819"/>
              </a:lnSpc>
            </a:pPr>
            <a:r>
              <a:rPr lang="en-US" sz="1299" spc="103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(CADA 100GR)  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16678" y="8059260"/>
            <a:ext cx="2390916" cy="26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7"/>
              </a:lnSpc>
            </a:pPr>
            <a:r>
              <a:rPr lang="en-US" sz="89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chuletón de ternera acompañado de patatas fritas y pimientos de padrón y ensalada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8515" y="7501730"/>
            <a:ext cx="2336515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8.00€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07143" y="6598224"/>
            <a:ext cx="2385803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PRESA IBÉRICA O SECRETO IBÉRICO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26633" y="7106337"/>
            <a:ext cx="2390916" cy="30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8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Cerdo ibérico a la brasa acompañado de patatas fritas y ensalada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56562" y="9348666"/>
            <a:ext cx="2336515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21.50€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2544491" y="4277099"/>
            <a:ext cx="160775" cy="158243"/>
          </a:xfrm>
          <a:custGeom>
            <a:avLst/>
            <a:gdLst/>
            <a:ahLst/>
            <a:cxnLst/>
            <a:rect r="r" b="b" t="t" l="l"/>
            <a:pathLst>
              <a:path h="158243" w="160775">
                <a:moveTo>
                  <a:pt x="0" y="0"/>
                </a:moveTo>
                <a:lnTo>
                  <a:pt x="160775" y="0"/>
                </a:lnTo>
                <a:lnTo>
                  <a:pt x="160775" y="158243"/>
                </a:lnTo>
                <a:lnTo>
                  <a:pt x="0" y="158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2466085" y="5423126"/>
            <a:ext cx="196155" cy="193065"/>
          </a:xfrm>
          <a:custGeom>
            <a:avLst/>
            <a:gdLst/>
            <a:ahLst/>
            <a:cxnLst/>
            <a:rect r="r" b="b" t="t" l="l"/>
            <a:pathLst>
              <a:path h="193065" w="196155">
                <a:moveTo>
                  <a:pt x="0" y="0"/>
                </a:moveTo>
                <a:lnTo>
                  <a:pt x="196155" y="0"/>
                </a:lnTo>
                <a:lnTo>
                  <a:pt x="196155" y="193066"/>
                </a:lnTo>
                <a:lnTo>
                  <a:pt x="0" y="193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5008734" y="6777921"/>
            <a:ext cx="160775" cy="158243"/>
          </a:xfrm>
          <a:custGeom>
            <a:avLst/>
            <a:gdLst/>
            <a:ahLst/>
            <a:cxnLst/>
            <a:rect r="r" b="b" t="t" l="l"/>
            <a:pathLst>
              <a:path h="158243" w="160775">
                <a:moveTo>
                  <a:pt x="0" y="0"/>
                </a:moveTo>
                <a:lnTo>
                  <a:pt x="160776" y="0"/>
                </a:lnTo>
                <a:lnTo>
                  <a:pt x="160776" y="158244"/>
                </a:lnTo>
                <a:lnTo>
                  <a:pt x="0" y="158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091815" y="7057033"/>
            <a:ext cx="189408" cy="186426"/>
          </a:xfrm>
          <a:custGeom>
            <a:avLst/>
            <a:gdLst/>
            <a:ahLst/>
            <a:cxnLst/>
            <a:rect r="r" b="b" t="t" l="l"/>
            <a:pathLst>
              <a:path h="186426" w="189408">
                <a:moveTo>
                  <a:pt x="0" y="0"/>
                </a:moveTo>
                <a:lnTo>
                  <a:pt x="189409" y="0"/>
                </a:lnTo>
                <a:lnTo>
                  <a:pt x="189409" y="186425"/>
                </a:lnTo>
                <a:lnTo>
                  <a:pt x="0" y="186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704587" y="2807620"/>
            <a:ext cx="1761499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TEMPURA DE VERDURAS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886424" y="2864770"/>
            <a:ext cx="196961" cy="193859"/>
          </a:xfrm>
          <a:custGeom>
            <a:avLst/>
            <a:gdLst/>
            <a:ahLst/>
            <a:cxnLst/>
            <a:rect r="r" b="b" t="t" l="l"/>
            <a:pathLst>
              <a:path h="193859" w="196961">
                <a:moveTo>
                  <a:pt x="0" y="0"/>
                </a:moveTo>
                <a:lnTo>
                  <a:pt x="196961" y="0"/>
                </a:lnTo>
                <a:lnTo>
                  <a:pt x="196961" y="193859"/>
                </a:lnTo>
                <a:lnTo>
                  <a:pt x="0" y="1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2101619" y="2817216"/>
            <a:ext cx="1491459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RAC... 12.00€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84000" y="2531395"/>
            <a:ext cx="2924643" cy="214616"/>
            <a:chOff x="0" y="0"/>
            <a:chExt cx="3899524" cy="286154"/>
          </a:xfrm>
        </p:grpSpPr>
        <p:sp>
          <p:nvSpPr>
            <p:cNvPr name="TextBox 57" id="57"/>
            <p:cNvSpPr txBox="true"/>
            <p:nvPr/>
          </p:nvSpPr>
          <p:spPr>
            <a:xfrm rot="0">
              <a:off x="0" y="-23030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CALAMARES 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910913" y="-38100"/>
              <a:ext cx="1988611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RAC... 14.00€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823610" y="2566136"/>
            <a:ext cx="196961" cy="193859"/>
          </a:xfrm>
          <a:custGeom>
            <a:avLst/>
            <a:gdLst/>
            <a:ahLst/>
            <a:cxnLst/>
            <a:rect r="r" b="b" t="t" l="l"/>
            <a:pathLst>
              <a:path h="193859" w="196961">
                <a:moveTo>
                  <a:pt x="0" y="0"/>
                </a:moveTo>
                <a:lnTo>
                  <a:pt x="196961" y="0"/>
                </a:lnTo>
                <a:lnTo>
                  <a:pt x="196961" y="193859"/>
                </a:lnTo>
                <a:lnTo>
                  <a:pt x="0" y="1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670991" y="2191274"/>
            <a:ext cx="2891965" cy="203313"/>
            <a:chOff x="0" y="0"/>
            <a:chExt cx="3855954" cy="271084"/>
          </a:xfrm>
        </p:grpSpPr>
        <p:sp>
          <p:nvSpPr>
            <p:cNvPr name="TextBox 61" id="61"/>
            <p:cNvSpPr txBox="true"/>
            <p:nvPr/>
          </p:nvSpPr>
          <p:spPr>
            <a:xfrm rot="0">
              <a:off x="0" y="-38100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BOQUERONES 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867342" y="-38100"/>
              <a:ext cx="1988611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RAC... 14.00€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2103979" y="2189934"/>
            <a:ext cx="196961" cy="193859"/>
          </a:xfrm>
          <a:custGeom>
            <a:avLst/>
            <a:gdLst/>
            <a:ahLst/>
            <a:cxnLst/>
            <a:rect r="r" b="b" t="t" l="l"/>
            <a:pathLst>
              <a:path h="193859" w="196961">
                <a:moveTo>
                  <a:pt x="0" y="0"/>
                </a:moveTo>
                <a:lnTo>
                  <a:pt x="196961" y="0"/>
                </a:lnTo>
                <a:lnTo>
                  <a:pt x="196961" y="193859"/>
                </a:lnTo>
                <a:lnTo>
                  <a:pt x="0" y="1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684000" y="1874170"/>
            <a:ext cx="2924643" cy="214616"/>
            <a:chOff x="0" y="0"/>
            <a:chExt cx="3899524" cy="286154"/>
          </a:xfrm>
        </p:grpSpPr>
        <p:sp>
          <p:nvSpPr>
            <p:cNvPr name="TextBox 65" id="65"/>
            <p:cNvSpPr txBox="true"/>
            <p:nvPr/>
          </p:nvSpPr>
          <p:spPr>
            <a:xfrm rot="0">
              <a:off x="0" y="-23030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CHOCOS  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1910913" y="-38100"/>
              <a:ext cx="1988611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RAC... 14.00€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663321" y="987369"/>
            <a:ext cx="2243090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8"/>
              </a:lnSpc>
            </a:pPr>
            <a:r>
              <a:rPr lang="en-US" sz="900">
                <a:solidFill>
                  <a:srgbClr val="003D20"/>
                </a:solidFill>
                <a:latin typeface="Clear Sans"/>
                <a:ea typeface="Clear Sans"/>
                <a:cs typeface="Clear Sans"/>
                <a:sym typeface="Clear Sans"/>
              </a:rPr>
              <a:t>Gambas,Puchero,Pollo o Verduras </a:t>
            </a:r>
          </a:p>
          <a:p>
            <a:pPr algn="l">
              <a:lnSpc>
                <a:spcPts val="1098"/>
              </a:lnSpc>
            </a:pPr>
            <a:r>
              <a:rPr lang="en-US" sz="900">
                <a:solidFill>
                  <a:srgbClr val="003D20"/>
                </a:solidFill>
                <a:latin typeface="Clear Sans"/>
                <a:ea typeface="Clear Sans"/>
                <a:cs typeface="Clear Sans"/>
                <a:sym typeface="Clear Sans"/>
              </a:rPr>
              <a:t>(Puede mezclar y elegir 2 variedades: </a:t>
            </a:r>
          </a:p>
          <a:p>
            <a:pPr algn="l">
              <a:lnSpc>
                <a:spcPts val="1098"/>
              </a:lnSpc>
            </a:pPr>
            <a:r>
              <a:rPr lang="en-US" sz="900">
                <a:solidFill>
                  <a:srgbClr val="003D20"/>
                </a:solidFill>
                <a:latin typeface="Clear Sans"/>
                <a:ea typeface="Clear Sans"/>
                <a:cs typeface="Clear Sans"/>
                <a:sym typeface="Clear Sans"/>
              </a:rPr>
              <a:t>3 y 3 o 6 y 6).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03096" y="1026445"/>
            <a:ext cx="2336515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6 UN...6.00€ </a:t>
            </a:r>
          </a:p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12 UN...12.00€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63321" y="815943"/>
            <a:ext cx="2553394" cy="15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8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cada croqueta + 1.00€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70991" y="566776"/>
            <a:ext cx="23858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CROQUETAS DE LA CASA 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1626649" y="1884964"/>
            <a:ext cx="196961" cy="193859"/>
          </a:xfrm>
          <a:custGeom>
            <a:avLst/>
            <a:gdLst/>
            <a:ahLst/>
            <a:cxnLst/>
            <a:rect r="r" b="b" t="t" l="l"/>
            <a:pathLst>
              <a:path h="193859" w="196961">
                <a:moveTo>
                  <a:pt x="0" y="0"/>
                </a:moveTo>
                <a:lnTo>
                  <a:pt x="196961" y="0"/>
                </a:lnTo>
                <a:lnTo>
                  <a:pt x="196961" y="193859"/>
                </a:lnTo>
                <a:lnTo>
                  <a:pt x="0" y="1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2964741" y="625408"/>
            <a:ext cx="189217" cy="186238"/>
          </a:xfrm>
          <a:custGeom>
            <a:avLst/>
            <a:gdLst/>
            <a:ahLst/>
            <a:cxnLst/>
            <a:rect r="r" b="b" t="t" l="l"/>
            <a:pathLst>
              <a:path h="186238" w="189217">
                <a:moveTo>
                  <a:pt x="0" y="0"/>
                </a:moveTo>
                <a:lnTo>
                  <a:pt x="189218" y="0"/>
                </a:lnTo>
                <a:lnTo>
                  <a:pt x="189218" y="186238"/>
                </a:lnTo>
                <a:lnTo>
                  <a:pt x="0" y="186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4111917" y="3249059"/>
            <a:ext cx="1978747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CHOCO ENTERO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347904" y="3225096"/>
            <a:ext cx="643628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23.50€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111917" y="3485560"/>
            <a:ext cx="23858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GAMBONS AL CARBÓN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381913" y="3485560"/>
            <a:ext cx="604654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23.50€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111917" y="3785879"/>
            <a:ext cx="2385803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LOMO DE BACALAO AL CARBÓN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020487" y="3785879"/>
            <a:ext cx="980957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24.00€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4106804" y="1610725"/>
            <a:ext cx="2884728" cy="1090496"/>
            <a:chOff x="0" y="0"/>
            <a:chExt cx="3846304" cy="1453995"/>
          </a:xfrm>
        </p:grpSpPr>
        <p:sp>
          <p:nvSpPr>
            <p:cNvPr name="TextBox 80" id="80"/>
            <p:cNvSpPr txBox="true"/>
            <p:nvPr/>
          </p:nvSpPr>
          <p:spPr>
            <a:xfrm rot="0">
              <a:off x="10844" y="-38100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LUBINA 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3271839" y="-7629"/>
              <a:ext cx="563621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8.00€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10844" y="365056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DORADA 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3282683" y="365056"/>
              <a:ext cx="563621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8.00€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0" y="712340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RODABALLO 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3271839" y="721326"/>
              <a:ext cx="563621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9.00€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0" y="1144810"/>
              <a:ext cx="3181070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8"/>
                </a:lnSpc>
              </a:pPr>
              <a:r>
                <a:rPr lang="en-US" sz="1370" spc="109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LENGUADO 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2973773" y="1119410"/>
              <a:ext cx="861688" cy="309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8"/>
                </a:lnSpc>
              </a:pPr>
              <a:r>
                <a:rPr lang="en-US" sz="1370">
                  <a:solidFill>
                    <a:srgbClr val="00000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9.00€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4106804" y="4262438"/>
            <a:ext cx="2385803" cy="47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REJO DE PULPO A LA LAGAREIRO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036451" y="4262438"/>
            <a:ext cx="980957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29.00€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106804" y="4732451"/>
            <a:ext cx="2385803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370" spc="10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JUMBO A LA BRASA(UN.)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054496" y="4725486"/>
            <a:ext cx="980957" cy="24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8"/>
              </a:lnSpc>
            </a:pPr>
            <a:r>
              <a:rPr lang="en-US" sz="137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16.00€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4106804" y="1290992"/>
            <a:ext cx="1861630" cy="15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86">
                <a:solidFill>
                  <a:srgbClr val="003D20"/>
                </a:solidFill>
                <a:latin typeface="Clear Sans"/>
                <a:ea typeface="Clear Sans"/>
                <a:cs typeface="Clear Sans"/>
                <a:sym typeface="Clear Sans"/>
              </a:rPr>
              <a:t>(sardinas solo en temporada)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111917" y="2721715"/>
            <a:ext cx="2889527" cy="46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86">
                <a:solidFill>
                  <a:srgbClr val="003D20"/>
                </a:solidFill>
                <a:latin typeface="Clear Sans"/>
                <a:ea typeface="Clear Sans"/>
                <a:cs typeface="Clear Sans"/>
                <a:sym typeface="Clear Sans"/>
              </a:rPr>
              <a:t>El pescado se cobra por peso: cada 100gr. Rogamos lo confirme con un miembro de nuestro personal</a:t>
            </a:r>
          </a:p>
        </p:txBody>
      </p:sp>
      <p:sp>
        <p:nvSpPr>
          <p:cNvPr name="Freeform 94" id="94"/>
          <p:cNvSpPr/>
          <p:nvPr/>
        </p:nvSpPr>
        <p:spPr>
          <a:xfrm flipH="false" flipV="false" rot="0">
            <a:off x="2743843" y="4248123"/>
            <a:ext cx="220899" cy="215376"/>
          </a:xfrm>
          <a:custGeom>
            <a:avLst/>
            <a:gdLst/>
            <a:ahLst/>
            <a:cxnLst/>
            <a:rect r="r" b="b" t="t" l="l"/>
            <a:pathLst>
              <a:path h="215376" w="220899">
                <a:moveTo>
                  <a:pt x="0" y="0"/>
                </a:moveTo>
                <a:lnTo>
                  <a:pt x="220898" y="0"/>
                </a:lnTo>
                <a:lnTo>
                  <a:pt x="220898" y="215376"/>
                </a:lnTo>
                <a:lnTo>
                  <a:pt x="0" y="215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2682581" y="5391629"/>
            <a:ext cx="219662" cy="214170"/>
          </a:xfrm>
          <a:custGeom>
            <a:avLst/>
            <a:gdLst/>
            <a:ahLst/>
            <a:cxnLst/>
            <a:rect r="r" b="b" t="t" l="l"/>
            <a:pathLst>
              <a:path h="214170" w="219662">
                <a:moveTo>
                  <a:pt x="0" y="0"/>
                </a:moveTo>
                <a:lnTo>
                  <a:pt x="219662" y="0"/>
                </a:lnTo>
                <a:lnTo>
                  <a:pt x="219662" y="214170"/>
                </a:lnTo>
                <a:lnTo>
                  <a:pt x="0" y="214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6363410" y="646272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8" y="0"/>
                </a:lnTo>
                <a:lnTo>
                  <a:pt x="201378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4908045" y="1908790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9" y="0"/>
                </a:lnTo>
                <a:lnTo>
                  <a:pt x="201379" y="204652"/>
                </a:lnTo>
                <a:lnTo>
                  <a:pt x="0" y="204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4840387" y="1610725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8" y="0"/>
                </a:lnTo>
                <a:lnTo>
                  <a:pt x="201378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5217375" y="2159740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9" y="0"/>
                </a:lnTo>
                <a:lnTo>
                  <a:pt x="201379" y="204652"/>
                </a:lnTo>
                <a:lnTo>
                  <a:pt x="0" y="204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5132650" y="2507537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8" y="0"/>
                </a:lnTo>
                <a:lnTo>
                  <a:pt x="201378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5556681" y="3280907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8" y="0"/>
                </a:lnTo>
                <a:lnTo>
                  <a:pt x="201378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4899912" y="4060764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9" y="0"/>
                </a:lnTo>
                <a:lnTo>
                  <a:pt x="201379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5991126" y="4316604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9" y="0"/>
                </a:lnTo>
                <a:lnTo>
                  <a:pt x="201379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6149244" y="3525082"/>
            <a:ext cx="198660" cy="201891"/>
          </a:xfrm>
          <a:custGeom>
            <a:avLst/>
            <a:gdLst/>
            <a:ahLst/>
            <a:cxnLst/>
            <a:rect r="r" b="b" t="t" l="l"/>
            <a:pathLst>
              <a:path h="201891" w="198660">
                <a:moveTo>
                  <a:pt x="0" y="0"/>
                </a:moveTo>
                <a:lnTo>
                  <a:pt x="198660" y="0"/>
                </a:lnTo>
                <a:lnTo>
                  <a:pt x="198660" y="201891"/>
                </a:lnTo>
                <a:lnTo>
                  <a:pt x="0" y="20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6328269" y="4770551"/>
            <a:ext cx="198660" cy="201891"/>
          </a:xfrm>
          <a:custGeom>
            <a:avLst/>
            <a:gdLst/>
            <a:ahLst/>
            <a:cxnLst/>
            <a:rect r="r" b="b" t="t" l="l"/>
            <a:pathLst>
              <a:path h="201891" w="198660">
                <a:moveTo>
                  <a:pt x="0" y="0"/>
                </a:moveTo>
                <a:lnTo>
                  <a:pt x="198661" y="0"/>
                </a:lnTo>
                <a:lnTo>
                  <a:pt x="198661" y="201891"/>
                </a:lnTo>
                <a:lnTo>
                  <a:pt x="0" y="20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6281224" y="7047919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8" y="0"/>
                </a:lnTo>
                <a:lnTo>
                  <a:pt x="201378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3153959" y="606299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8" y="0"/>
                </a:lnTo>
                <a:lnTo>
                  <a:pt x="201378" y="204652"/>
                </a:lnTo>
                <a:lnTo>
                  <a:pt x="0" y="204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3375734" y="606299"/>
            <a:ext cx="198660" cy="201891"/>
          </a:xfrm>
          <a:custGeom>
            <a:avLst/>
            <a:gdLst/>
            <a:ahLst/>
            <a:cxnLst/>
            <a:rect r="r" b="b" t="t" l="l"/>
            <a:pathLst>
              <a:path h="201891" w="198660">
                <a:moveTo>
                  <a:pt x="0" y="0"/>
                </a:moveTo>
                <a:lnTo>
                  <a:pt x="198660" y="0"/>
                </a:lnTo>
                <a:lnTo>
                  <a:pt x="198660" y="201890"/>
                </a:lnTo>
                <a:lnTo>
                  <a:pt x="0" y="2018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1431255" y="1874170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8" y="0"/>
                </a:lnTo>
                <a:lnTo>
                  <a:pt x="201378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922090" y="2189934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9" y="0"/>
                </a:lnTo>
                <a:lnTo>
                  <a:pt x="201379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2022780" y="2566136"/>
            <a:ext cx="201378" cy="204653"/>
          </a:xfrm>
          <a:custGeom>
            <a:avLst/>
            <a:gdLst/>
            <a:ahLst/>
            <a:cxnLst/>
            <a:rect r="r" b="b" t="t" l="l"/>
            <a:pathLst>
              <a:path h="204653" w="201378">
                <a:moveTo>
                  <a:pt x="0" y="0"/>
                </a:moveTo>
                <a:lnTo>
                  <a:pt x="201378" y="0"/>
                </a:lnTo>
                <a:lnTo>
                  <a:pt x="201378" y="204653"/>
                </a:lnTo>
                <a:lnTo>
                  <a:pt x="0" y="20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2" id="112"/>
          <p:cNvSpPr txBox="true"/>
          <p:nvPr/>
        </p:nvSpPr>
        <p:spPr>
          <a:xfrm rot="0">
            <a:off x="4078297" y="9367716"/>
            <a:ext cx="2876595" cy="29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POSTRES 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4078297" y="9694330"/>
            <a:ext cx="3187438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72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¿TE APETECE ALGO DULCE?</a:t>
            </a:r>
          </a:p>
          <a:p>
            <a:pPr algn="l">
              <a:lnSpc>
                <a:spcPts val="1260"/>
              </a:lnSpc>
            </a:pPr>
            <a:r>
              <a:rPr lang="en-US" sz="900" spc="72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Descubre nuestros postres caseros, hechos con amor, en la vitrina o preguntando a nuestro equipo — todos Por  6,00 €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716678" y="5413601"/>
            <a:ext cx="1754676" cy="46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8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Pollo estilo portugués tierno a la brasa acompañado de patatas fritas y ensalada 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676104" y="1619789"/>
            <a:ext cx="2553394" cy="15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2"/>
              </a:lnSpc>
            </a:pPr>
            <a:r>
              <a:rPr lang="en-US" sz="1100" b="true">
                <a:solidFill>
                  <a:srgbClr val="003D2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(Todos los fritos es possible sin gluten)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DAGsVnEMIa0</dc:identifier>
  <dcterms:modified xsi:type="dcterms:W3CDTF">2011-08-01T06:04:30Z</dcterms:modified>
  <cp:revision>1</cp:revision>
  <dc:title>Cardápio Hamburgueria Minimalista Preto e Branco</dc:title>
</cp:coreProperties>
</file>